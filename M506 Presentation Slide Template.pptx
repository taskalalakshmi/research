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1" r:id="rId4"/>
    <p:sldId id="262" r:id="rId5"/>
    <p:sldId id="266" r:id="rId6"/>
    <p:sldId id="270" r:id="rId7"/>
    <p:sldId id="271" r:id="rId8"/>
    <p:sldId id="272" r:id="rId9"/>
    <p:sldId id="277" r:id="rId10"/>
    <p:sldId id="279" r:id="rId11"/>
    <p:sldId id="280" r:id="rId12"/>
    <p:sldId id="296" r:id="rId13"/>
    <p:sldId id="29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285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57" d="100"/>
          <a:sy n="57" d="100"/>
        </p:scale>
        <p:origin x="1528" y="48"/>
      </p:cViewPr>
      <p:guideLst>
        <p:guide orient="horz" pos="2146"/>
        <p:guide pos="285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C369F40-FABF-014F-876E-2E513D524F1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C369F40-FABF-014F-876E-2E513D524F1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C369F40-FABF-014F-876E-2E513D524F1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C369F40-FABF-014F-876E-2E513D524F1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C369F40-FABF-014F-876E-2E513D524F1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C369F40-FABF-014F-876E-2E513D524F1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369F40-FABF-014F-876E-2E513D524F1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C369F40-FABF-014F-876E-2E513D524F1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C369F40-FABF-014F-876E-2E513D524F1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C369F40-FABF-014F-876E-2E513D524F1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C369F40-FABF-014F-876E-2E513D524F1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E5C012-B54D-A948-9F8A-F9100CD574B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369F40-FABF-014F-876E-2E513D524F17}"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E5C012-B54D-A948-9F8A-F9100CD574B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282840"/>
            <a:ext cx="9144000" cy="1076325"/>
          </a:xfrm>
          <a:prstGeom prst="rect">
            <a:avLst/>
          </a:prstGeom>
          <a:noFill/>
        </p:spPr>
        <p:txBody>
          <a:bodyPr wrap="square" rtlCol="0">
            <a:spAutoFit/>
          </a:bodyPr>
          <a:lstStyle>
            <a:defPPr>
              <a:defRPr lang="en-US"/>
            </a:defPPr>
            <a:lvl1pPr algn="ctr">
              <a:defRPr sz="2000">
                <a:solidFill>
                  <a:srgbClr val="3366FF"/>
                </a:solidFill>
              </a:defRPr>
            </a:lvl1pPr>
          </a:lstStyle>
          <a:p>
            <a:r>
              <a:rPr lang="en-US" sz="3200" dirty="0"/>
              <a:t>Artificial Intelligence in Education - Factors Associated with AI usage amoung Students</a:t>
            </a:r>
            <a:endParaRPr lang="en-US" sz="3200" dirty="0"/>
          </a:p>
        </p:txBody>
      </p:sp>
      <p:sp>
        <p:nvSpPr>
          <p:cNvPr id="5" name="TextBox 4"/>
          <p:cNvSpPr txBox="1"/>
          <p:nvPr/>
        </p:nvSpPr>
        <p:spPr>
          <a:xfrm>
            <a:off x="0" y="2902582"/>
            <a:ext cx="9144000" cy="614045"/>
          </a:xfrm>
          <a:prstGeom prst="rect">
            <a:avLst/>
          </a:prstGeom>
          <a:noFill/>
        </p:spPr>
        <p:txBody>
          <a:bodyPr wrap="square" rtlCol="0">
            <a:spAutoFit/>
          </a:bodyPr>
          <a:lstStyle/>
          <a:p>
            <a:pPr algn="ctr"/>
            <a:r>
              <a:rPr lang="en-US" sz="2000" dirty="0">
                <a:solidFill>
                  <a:srgbClr val="3366FF"/>
                </a:solidFill>
              </a:rPr>
              <a:t>Taskala Lakshmi</a:t>
            </a:r>
            <a:endParaRPr lang="en-US" sz="2000" dirty="0">
              <a:solidFill>
                <a:srgbClr val="3366FF"/>
              </a:solidFill>
            </a:endParaRPr>
          </a:p>
          <a:p>
            <a:pPr algn="ctr"/>
            <a:endParaRPr lang="en-US" sz="1400" i="1" dirty="0">
              <a:solidFill>
                <a:srgbClr val="3366FF"/>
              </a:solidFill>
            </a:endParaRPr>
          </a:p>
        </p:txBody>
      </p:sp>
      <p:sp>
        <p:nvSpPr>
          <p:cNvPr id="6" name="TextBox 5"/>
          <p:cNvSpPr txBox="1"/>
          <p:nvPr/>
        </p:nvSpPr>
        <p:spPr>
          <a:xfrm>
            <a:off x="518349" y="5079520"/>
            <a:ext cx="8410212" cy="368300"/>
          </a:xfrm>
          <a:prstGeom prst="rect">
            <a:avLst/>
          </a:prstGeom>
          <a:noFill/>
        </p:spPr>
        <p:txBody>
          <a:bodyPr wrap="square" rtlCol="0">
            <a:spAutoFit/>
          </a:bodyPr>
          <a:lstStyle/>
          <a:p>
            <a:pPr algn="ctr"/>
            <a:r>
              <a:rPr lang="en-US" dirty="0"/>
              <a:t>&lt;03-09-2025&gt;</a:t>
            </a:r>
            <a:endParaRPr lang="en-US" dirty="0"/>
          </a:p>
        </p:txBody>
      </p:sp>
      <p:sp>
        <p:nvSpPr>
          <p:cNvPr id="7" name="TextBox 6"/>
          <p:cNvSpPr txBox="1"/>
          <p:nvPr/>
        </p:nvSpPr>
        <p:spPr>
          <a:xfrm>
            <a:off x="0" y="4276127"/>
            <a:ext cx="9144000" cy="398780"/>
          </a:xfrm>
          <a:prstGeom prst="rect">
            <a:avLst/>
          </a:prstGeom>
          <a:noFill/>
        </p:spPr>
        <p:txBody>
          <a:bodyPr wrap="square" rtlCol="0">
            <a:spAutoFit/>
          </a:bodyPr>
          <a:lstStyle/>
          <a:p>
            <a:pPr algn="ctr"/>
            <a:endParaRPr lang="en-US" sz="2000" dirty="0"/>
          </a:p>
        </p:txBody>
      </p:sp>
      <p:sp>
        <p:nvSpPr>
          <p:cNvPr id="9" name="Rectangle 8"/>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Callout 4"/>
          <p:cNvSpPr/>
          <p:nvPr/>
        </p:nvSpPr>
        <p:spPr>
          <a:xfrm>
            <a:off x="1626235" y="1661795"/>
            <a:ext cx="5761355" cy="3055620"/>
          </a:xfrm>
          <a:prstGeom prst="wedgeEllipseCallou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600">
                <a:sym typeface="+mn-ea"/>
              </a:rPr>
              <a:t>My research is about AI in education. I want to understand why the use of generative AI for education differs between students. I am using secondary data from Eurostat rather than collecting my own survey data. I am investigate whether digital skills, educational attainment and the digital environment are associated with the use of AI for education.</a:t>
            </a:r>
            <a:endParaRPr lang="en-US" sz="1600" dirty="0">
              <a:solidFill>
                <a:srgbClr val="3366FF"/>
              </a:solidFill>
            </a:endParaRPr>
          </a:p>
        </p:txBody>
      </p:sp>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INTRODUCTION</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1303" y="1521995"/>
            <a:ext cx="8242098" cy="1476375"/>
          </a:xfrm>
          <a:prstGeom prst="rect">
            <a:avLst/>
          </a:prstGeom>
          <a:noFill/>
        </p:spPr>
        <p:txBody>
          <a:bodyPr wrap="square" rtlCol="0">
            <a:spAutoFit/>
          </a:bodyPr>
          <a:lstStyle/>
          <a:p>
            <a:pPr algn="just"/>
            <a:r>
              <a:rPr lang="en-US" dirty="0"/>
              <a:t>“ This research is to analysis what are all the factors that differs usage of AI amoung students because when i refer the papers in sciencedirect page i found the researches that how AI helps to students or student effected because of AI. So i took the dattasets from eurostat and performing some analysis to know my hypothesis are positive or negitive.</a:t>
            </a:r>
            <a:endParaRPr lang="en-US" dirty="0"/>
          </a:p>
        </p:txBody>
      </p:sp>
      <p:sp>
        <p:nvSpPr>
          <p:cNvPr id="4" name="Rectangle 3"/>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PROBLEM STATEMENT</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LITERATURE REVIEW</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p:cNvGraphicFramePr>
            <a:graphicFrameLocks noGrp="1"/>
          </p:cNvGraphicFramePr>
          <p:nvPr/>
        </p:nvGraphicFramePr>
        <p:xfrm>
          <a:off x="402875" y="683756"/>
          <a:ext cx="8338185" cy="5481320"/>
        </p:xfrm>
        <a:graphic>
          <a:graphicData uri="http://schemas.openxmlformats.org/drawingml/2006/table">
            <a:tbl>
              <a:tblPr firstRow="1" bandRow="1">
                <a:tableStyleId>{5C22544A-7EE6-4342-B048-85BDC9FD1C3A}</a:tableStyleId>
              </a:tblPr>
              <a:tblGrid>
                <a:gridCol w="2466340"/>
                <a:gridCol w="655955"/>
                <a:gridCol w="3383211"/>
                <a:gridCol w="1832517"/>
              </a:tblGrid>
              <a:tr h="370840">
                <a:tc>
                  <a:txBody>
                    <a:bodyPr/>
                    <a:lstStyle/>
                    <a:p>
                      <a:r>
                        <a:rPr lang="en-US" dirty="0"/>
                        <a:t>Author(s)</a:t>
                      </a:r>
                      <a:endParaRPr lang="en-GB" dirty="0"/>
                    </a:p>
                  </a:txBody>
                  <a:tcPr/>
                </a:tc>
                <a:tc>
                  <a:txBody>
                    <a:bodyPr/>
                    <a:lstStyle/>
                    <a:p>
                      <a:r>
                        <a:rPr lang="en-US" dirty="0"/>
                        <a:t>Year</a:t>
                      </a:r>
                      <a:endParaRPr lang="en-GB" dirty="0"/>
                    </a:p>
                  </a:txBody>
                  <a:tcPr/>
                </a:tc>
                <a:tc>
                  <a:txBody>
                    <a:bodyPr/>
                    <a:lstStyle/>
                    <a:p>
                      <a:r>
                        <a:rPr lang="en-US" dirty="0"/>
                        <a:t>Description</a:t>
                      </a:r>
                      <a:endParaRPr lang="en-GB" dirty="0"/>
                    </a:p>
                  </a:txBody>
                  <a:tcPr/>
                </a:tc>
                <a:tc>
                  <a:txBody>
                    <a:bodyPr/>
                    <a:lstStyle/>
                    <a:p>
                      <a:r>
                        <a:rPr lang="en-US" dirty="0"/>
                        <a:t>Published in</a:t>
                      </a:r>
                      <a:endParaRPr lang="en-GB" dirty="0"/>
                    </a:p>
                  </a:txBody>
                  <a:tcPr/>
                </a:tc>
              </a:tr>
              <a:tr h="370840">
                <a:tc>
                  <a:txBody>
                    <a:bodyPr/>
                    <a:lstStyle/>
                    <a:p>
                      <a:endParaRPr sz="1100"/>
                    </a:p>
                  </a:txBody>
                  <a:tcPr marL="0" marR="0" marT="0" marB="0" anchor="ctr" anchorCtr="0"/>
                </a:tc>
                <a:tc>
                  <a:txBody>
                    <a:bodyPr/>
                    <a:lstStyle/>
                    <a:p>
                      <a:pPr algn="r"/>
                      <a:endParaRPr sz="1100"/>
                    </a:p>
                  </a:txBody>
                  <a:tcPr marL="0" marR="0" marT="0" marB="0" anchor="ctr" anchorCtr="0"/>
                </a:tc>
                <a:tc>
                  <a:txBody>
                    <a:bodyPr/>
                    <a:lstStyle/>
                    <a:p>
                      <a:endParaRPr sz="1100"/>
                    </a:p>
                  </a:txBody>
                  <a:tcPr marL="0" marR="0" marT="0" marB="0" anchor="ctr" anchorCtr="0"/>
                </a:tc>
                <a:tc>
                  <a:txBody>
                    <a:bodyPr/>
                    <a:lstStyle/>
                    <a:p>
                      <a:endParaRPr lang="en-GB"/>
                    </a:p>
                  </a:txBody>
                  <a:tcPr/>
                </a:tc>
              </a:tr>
              <a:tr h="370840">
                <a:tc>
                  <a:txBody>
                    <a:bodyPr/>
                    <a:lstStyle/>
                    <a:p>
                      <a:r>
                        <a:rPr lang="en-US" altLang="en-US" sz="1100"/>
                        <a:t>Hadinejad,Sperling,McGrath</a:t>
                      </a:r>
                      <a:endParaRPr lang="en-US" altLang="en-US" sz="1100"/>
                    </a:p>
                  </a:txBody>
                  <a:tcPr marL="0" marR="0" marT="0" marB="0" anchor="ctr" anchorCtr="0"/>
                </a:tc>
                <a:tc>
                  <a:txBody>
                    <a:bodyPr/>
                    <a:lstStyle/>
                    <a:p>
                      <a:pPr algn="r"/>
                      <a:r>
                        <a:rPr lang="en-US" altLang="en-US" sz="1100"/>
                        <a:t>2025</a:t>
                      </a:r>
                      <a:endParaRPr lang="en-US" altLang="en-US" sz="1100"/>
                    </a:p>
                  </a:txBody>
                  <a:tcPr marL="0" marR="0" marT="0" marB="0" anchor="ctr" anchorCtr="0"/>
                </a:tc>
                <a:tc>
                  <a:txBody>
                    <a:bodyPr/>
                    <a:lstStyle/>
                    <a:p>
                      <a:r>
                        <a:rPr lang="en-US" altLang="en-US" sz="1100"/>
                        <a:t>Generative AI chatbots in higher education: Student experiences and perceived ethical challengesThe integration of generative artificial intelligence (GAI) chatbots in higher education has introduced both opportunities and challenges for students’ academic practices. </a:t>
                      </a:r>
                      <a:endParaRPr lang="en-US" altLang="en-US" sz="1100"/>
                    </a:p>
                  </a:txBody>
                  <a:tcPr marL="0" marR="0" marT="0" marB="0" anchor="ctr" anchorCtr="0"/>
                </a:tc>
                <a:tc>
                  <a:txBody>
                    <a:bodyPr/>
                    <a:lstStyle/>
                    <a:p>
                      <a:r>
                        <a:rPr lang="en-US" altLang="en-GB"/>
                        <a:t>sciencedirect</a:t>
                      </a:r>
                      <a:endParaRPr lang="en-US" altLang="en-GB"/>
                    </a:p>
                  </a:txBody>
                  <a:tcPr/>
                </a:tc>
              </a:tr>
              <a:tr h="370840">
                <a:tc>
                  <a:txBody>
                    <a:bodyPr/>
                    <a:lstStyle/>
                    <a:p>
                      <a:r>
                        <a:rPr lang="en-US" altLang="en-US" sz="1100"/>
                        <a:t>Deng, Ruiqi</a:t>
                      </a:r>
                      <a:endParaRPr lang="en-US" altLang="en-US" sz="1100"/>
                    </a:p>
                  </a:txBody>
                  <a:tcPr marL="0" marR="0" marT="0" marB="0" anchor="ctr" anchorCtr="0"/>
                </a:tc>
                <a:tc>
                  <a:txBody>
                    <a:bodyPr/>
                    <a:lstStyle/>
                    <a:p>
                      <a:pPr algn="r"/>
                      <a:r>
                        <a:rPr lang="en-US" altLang="en-US" sz="1100"/>
                        <a:t>2025</a:t>
                      </a:r>
                      <a:endParaRPr lang="en-US" altLang="en-US" sz="1100"/>
                    </a:p>
                  </a:txBody>
                  <a:tcPr marL="0" marR="0" marT="0" marB="0" anchor="ctr" anchorCtr="0"/>
                </a:tc>
                <a:tc>
                  <a:txBody>
                    <a:bodyPr/>
                    <a:lstStyle/>
                    <a:p>
                      <a:r>
                        <a:rPr lang="en-US" altLang="en-US" sz="1100"/>
                        <a:t>Does ChatGPT enhance student learning? A systematic review and meta-analysis of experimental studies.This review examines experimental studies on ChatGPT's impact on student learning to address this gap.</a:t>
                      </a:r>
                      <a:endParaRPr lang="en-US" altLang="en-US" sz="1100"/>
                    </a:p>
                  </a:txBody>
                  <a:tcPr marL="0" marR="0" marT="0" marB="0" anchor="ctr" anchorCtr="0"/>
                </a:tc>
                <a:tc>
                  <a:txBody>
                    <a:bodyPr/>
                    <a:lstStyle/>
                    <a:p>
                      <a:r>
                        <a:rPr lang="en-US" altLang="en-GB" sz="1800">
                          <a:sym typeface="+mn-ea"/>
                        </a:rPr>
                        <a:t>sciencedirect</a:t>
                      </a:r>
                      <a:endParaRPr lang="en-GB" dirty="0"/>
                    </a:p>
                  </a:txBody>
                  <a:tcPr/>
                </a:tc>
              </a:tr>
              <a:tr h="370840">
                <a:tc>
                  <a:txBody>
                    <a:bodyPr/>
                    <a:p>
                      <a:r>
                        <a:rPr sz="1100"/>
                        <a:t>Chen &amp; Cheung</a:t>
                      </a:r>
                      <a:endParaRPr sz="1100"/>
                    </a:p>
                  </a:txBody>
                  <a:tcPr marL="0" marR="0" marT="0" marB="0" anchor="ctr" anchorCtr="0"/>
                </a:tc>
                <a:tc>
                  <a:txBody>
                    <a:bodyPr/>
                    <a:p>
                      <a:pPr algn="r"/>
                      <a:r>
                        <a:rPr sz="1100"/>
                        <a:t>2025</a:t>
                      </a:r>
                      <a:endParaRPr sz="1100"/>
                    </a:p>
                  </a:txBody>
                  <a:tcPr marL="0" marR="0" marT="0" marB="0" anchor="ctr" anchorCtr="0"/>
                </a:tc>
                <a:tc>
                  <a:txBody>
                    <a:bodyPr/>
                    <a:p>
                      <a:r>
                        <a:rPr lang="en-US" altLang="en-US" sz="1100"/>
                        <a:t>Effect of generative artificial intelligence on university students learning outcomes: A systematic review and meta-analysis.Generative artificial intelligence (Gen-AI) is transforming higher education by enhancing students' learning outcomes.</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sz="1100"/>
                        <a:t>Barcaui </a:t>
                      </a:r>
                      <a:endParaRPr sz="1100"/>
                    </a:p>
                  </a:txBody>
                  <a:tcPr marL="0" marR="0" marT="0" marB="0" anchor="ctr" anchorCtr="0"/>
                </a:tc>
                <a:tc>
                  <a:txBody>
                    <a:bodyPr/>
                    <a:p>
                      <a:pPr algn="r"/>
                      <a:r>
                        <a:rPr sz="1100"/>
                        <a:t>2025</a:t>
                      </a:r>
                      <a:endParaRPr sz="1100"/>
                    </a:p>
                  </a:txBody>
                  <a:tcPr marL="0" marR="0" marT="0" marB="0" anchor="ctr" anchorCtr="0"/>
                </a:tc>
                <a:tc>
                  <a:txBody>
                    <a:bodyPr/>
                    <a:p>
                      <a:r>
                        <a:rPr lang="en-US" altLang="en-US" sz="1100"/>
                        <a:t>ChatGPT as a cognitive crutch: Evidence from a randomized controlled trial on knowledge retention</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lang="en-US" altLang="en-US" sz="1100"/>
                        <a:t>Heung, Yuk Mui Elly</a:t>
                      </a:r>
                      <a:endParaRPr lang="en-US" altLang="en-US" sz="1100"/>
                    </a:p>
                  </a:txBody>
                  <a:tcPr marL="0" marR="0" marT="0" marB="0" anchor="ctr" anchorCtr="0"/>
                </a:tc>
                <a:tc>
                  <a:txBody>
                    <a:bodyPr/>
                    <a:p>
                      <a:pPr algn="r"/>
                      <a:r>
                        <a:rPr sz="1100"/>
                        <a:t>2025</a:t>
                      </a:r>
                      <a:endParaRPr sz="1100"/>
                    </a:p>
                  </a:txBody>
                  <a:tcPr marL="0" marR="0" marT="0" marB="0" anchor="ctr" anchorCtr="0"/>
                </a:tc>
                <a:tc>
                  <a:txBody>
                    <a:bodyPr/>
                    <a:p>
                      <a:r>
                        <a:rPr lang="en-US" altLang="en-US" sz="1100"/>
                        <a:t>How ChatGPT impacts student engagement from a systematic review and meta-analysis study</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lang="en-US" altLang="en-US" sz="1100"/>
                        <a:t>Dong, Liu,Tang, Xiuxiu</a:t>
                      </a:r>
                      <a:endParaRPr lang="en-US" altLang="en-US" sz="1100"/>
                    </a:p>
                  </a:txBody>
                  <a:tcPr marL="0" marR="0" marT="0" marB="0" anchor="ctr" anchorCtr="0"/>
                </a:tc>
                <a:tc>
                  <a:txBody>
                    <a:bodyPr/>
                    <a:p>
                      <a:pPr algn="r"/>
                      <a:r>
                        <a:rPr sz="1100"/>
                        <a:t>2025</a:t>
                      </a:r>
                      <a:endParaRPr sz="1100"/>
                    </a:p>
                  </a:txBody>
                  <a:tcPr marL="0" marR="0" marT="0" marB="0" anchor="ctr" anchorCtr="0"/>
                </a:tc>
                <a:tc>
                  <a:txBody>
                    <a:bodyPr/>
                    <a:p>
                      <a:r>
                        <a:rPr lang="en-US" altLang="en-US" sz="1100"/>
                        <a:t>Examining the effect of artificial intelligence in relation to students’ academic achievement: A meta-analysis</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lang="en-US" altLang="en-US" sz="1100"/>
                        <a:t>Han, Xiaoli</a:t>
                      </a:r>
                      <a:endParaRPr lang="en-US" altLang="en-US" sz="1100"/>
                    </a:p>
                  </a:txBody>
                  <a:tcPr marL="0" marR="0" marT="0" marB="0" anchor="ctr" anchorCtr="0"/>
                </a:tc>
                <a:tc>
                  <a:txBody>
                    <a:bodyPr/>
                    <a:p>
                      <a:pPr algn="r"/>
                      <a:r>
                        <a:rPr sz="1100"/>
                        <a:t>2025</a:t>
                      </a:r>
                      <a:endParaRPr sz="1100"/>
                    </a:p>
                  </a:txBody>
                  <a:tcPr marL="0" marR="0" marT="0" marB="0" anchor="ctr" anchorCtr="0"/>
                </a:tc>
                <a:tc>
                  <a:txBody>
                    <a:bodyPr/>
                    <a:p>
                      <a:r>
                        <a:rPr lang="en-US" altLang="en-US" sz="1100"/>
                        <a:t>The impact of GenAI on learning outcomes: A systematic review and meta-analysis of experimental studies</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lang="en-US" altLang="en-US" sz="1100"/>
                        <a:t>Kolade, Oluwaseun,Owoseni, Adebowale</a:t>
                      </a:r>
                      <a:endParaRPr lang="en-US" altLang="en-US" sz="1100"/>
                    </a:p>
                  </a:txBody>
                  <a:tcPr marL="0" marR="0" marT="0" marB="0" anchor="ctr" anchorCtr="0"/>
                </a:tc>
                <a:tc>
                  <a:txBody>
                    <a:bodyPr/>
                    <a:p>
                      <a:pPr algn="r"/>
                      <a:r>
                        <a:rPr lang="en-US" altLang="en-US" sz="1100"/>
                        <a:t>2024</a:t>
                      </a:r>
                      <a:endParaRPr lang="en-US" altLang="en-US" sz="1100"/>
                    </a:p>
                  </a:txBody>
                  <a:tcPr marL="0" marR="0" marT="0" marB="0" anchor="ctr" anchorCtr="0"/>
                </a:tc>
                <a:tc>
                  <a:txBody>
                    <a:bodyPr/>
                    <a:p>
                      <a:r>
                        <a:rPr lang="en-US" altLang="en-US" sz="1100"/>
                        <a:t>Is AI changing learning and assessment as we know it? Evidence from a ChatGPT experiment and a conceptual framework</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lang="en-US" altLang="en-US" sz="1100"/>
                        <a:t>Azeta, Ambrose,Abayomi-Alli, Adebayo</a:t>
                      </a:r>
                      <a:endParaRPr lang="en-US" altLang="en-US" sz="1100"/>
                    </a:p>
                  </a:txBody>
                  <a:tcPr marL="0" marR="0" marT="0" marB="0" anchor="ctr" anchorCtr="0"/>
                </a:tc>
                <a:tc>
                  <a:txBody>
                    <a:bodyPr/>
                    <a:p>
                      <a:pPr algn="r"/>
                      <a:r>
                        <a:rPr lang="en-US" altLang="en-US" sz="1100"/>
                        <a:t>2024</a:t>
                      </a:r>
                      <a:endParaRPr lang="en-US" altLang="en-US" sz="1100"/>
                    </a:p>
                  </a:txBody>
                  <a:tcPr marL="0" marR="0" marT="0" marB="0" anchor="ctr" anchorCtr="0"/>
                </a:tc>
                <a:tc>
                  <a:txBody>
                    <a:bodyPr/>
                    <a:p>
                      <a:r>
                        <a:rPr lang="en-US" altLang="en-US" sz="1100"/>
                        <a:t>Impact of artificial intelligence adoption on students' academic performance in open and distance learning: A systematic literature review</a:t>
                      </a:r>
                      <a:endParaRPr lang="en-US" altLang="en-US" sz="1100"/>
                    </a:p>
                  </a:txBody>
                  <a:tcPr marL="0" marR="0" marT="0" marB="0" anchor="ctr" anchorCtr="0"/>
                </a:tc>
                <a:tc>
                  <a:txBody>
                    <a:bodyPr/>
                    <a:p>
                      <a:pPr>
                        <a:buNone/>
                      </a:pPr>
                      <a:r>
                        <a:rPr lang="en-US" altLang="en-GB" sz="1800">
                          <a:sym typeface="+mn-ea"/>
                        </a:rPr>
                        <a:t>sciencedirect</a:t>
                      </a:r>
                      <a:endParaRPr lang="en-US"/>
                    </a:p>
                  </a:txBody>
                  <a:tcPr/>
                </a:tc>
              </a:tr>
              <a:tr h="370840">
                <a:tc>
                  <a:txBody>
                    <a:bodyPr/>
                    <a:p>
                      <a:r>
                        <a:rPr sz="1100"/>
                        <a:t>Eurostat</a:t>
                      </a:r>
                      <a:endParaRPr sz="1100"/>
                    </a:p>
                  </a:txBody>
                  <a:tcPr marL="0" marR="0" marT="0" marB="0" anchor="ctr" anchorCtr="0"/>
                </a:tc>
                <a:tc>
                  <a:txBody>
                    <a:bodyPr/>
                    <a:p>
                      <a:pPr algn="r"/>
                      <a:r>
                        <a:rPr sz="1100"/>
                        <a:t>2026</a:t>
                      </a:r>
                      <a:endParaRPr sz="1100"/>
                    </a:p>
                  </a:txBody>
                  <a:tcPr marL="0" marR="0" marT="0" marB="0" anchor="ctr" anchorCtr="0"/>
                </a:tc>
                <a:tc>
                  <a:txBody>
                    <a:bodyPr/>
                    <a:p>
                      <a:r>
                        <a:rPr sz="1100"/>
                        <a:t>Provides European data on GenAI use and formal education</a:t>
                      </a:r>
                      <a:endParaRPr sz="1100"/>
                    </a:p>
                  </a:txBody>
                  <a:tcPr marL="0" marR="0" marT="0" marB="0" anchor="ctr" anchorCtr="0"/>
                </a:tc>
                <a:tc>
                  <a:txBody>
                    <a:bodyPr/>
                    <a:p>
                      <a:pPr>
                        <a:buNone/>
                      </a:pPr>
                      <a:r>
                        <a:rPr lang="en-US" altLang="en-GB" sz="1800">
                          <a:sym typeface="+mn-ea"/>
                        </a:rPr>
                        <a:t>sciencedirect</a:t>
                      </a:r>
                      <a:endParaRPr lang="en-US"/>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476961" y="3968391"/>
            <a:ext cx="5472212" cy="338554"/>
          </a:xfrm>
          <a:prstGeom prst="rect">
            <a:avLst/>
          </a:prstGeom>
          <a:noFill/>
        </p:spPr>
        <p:txBody>
          <a:bodyPr wrap="square" rtlCol="0">
            <a:spAutoFit/>
          </a:bodyPr>
          <a:lstStyle/>
          <a:p>
            <a:r>
              <a:rPr lang="en-US" sz="1600" i="1" dirty="0">
                <a:solidFill>
                  <a:srgbClr val="3366FF"/>
                </a:solidFill>
              </a:rPr>
              <a:t>Fig 0.0 – </a:t>
            </a:r>
            <a:r>
              <a:rPr lang="en-US" sz="1600" i="1" dirty="0"/>
              <a:t>Conceptual Framework, Model developed for research</a:t>
            </a:r>
            <a:endParaRPr lang="en-US" sz="1600" i="1" dirty="0"/>
          </a:p>
        </p:txBody>
      </p:sp>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CONCEPTUAL FRAMEWORK</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9"/>
          <p:cNvSpPr txBox="1"/>
          <p:nvPr/>
        </p:nvSpPr>
        <p:spPr>
          <a:xfrm>
            <a:off x="2271395" y="1736725"/>
            <a:ext cx="2585720" cy="396875"/>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r>
              <a:rPr lang="en-US"/>
              <a:t>          Digital Skills</a:t>
            </a:r>
            <a:endParaRPr lang="en-US"/>
          </a:p>
        </p:txBody>
      </p:sp>
      <p:sp>
        <p:nvSpPr>
          <p:cNvPr id="11" name="Text Box 10"/>
          <p:cNvSpPr txBox="1"/>
          <p:nvPr/>
        </p:nvSpPr>
        <p:spPr>
          <a:xfrm>
            <a:off x="2271395" y="2506345"/>
            <a:ext cx="2589530" cy="396875"/>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r>
              <a:rPr lang="en-US"/>
              <a:t>             Education</a:t>
            </a:r>
            <a:endParaRPr lang="en-US"/>
          </a:p>
        </p:txBody>
      </p:sp>
      <p:sp>
        <p:nvSpPr>
          <p:cNvPr id="12" name="Text Box 11"/>
          <p:cNvSpPr txBox="1"/>
          <p:nvPr/>
        </p:nvSpPr>
        <p:spPr>
          <a:xfrm>
            <a:off x="2276475" y="3306445"/>
            <a:ext cx="2584450" cy="396875"/>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r>
              <a:rPr lang="en-US"/>
              <a:t>      Digital environment</a:t>
            </a:r>
            <a:endParaRPr lang="en-US"/>
          </a:p>
        </p:txBody>
      </p:sp>
      <p:cxnSp>
        <p:nvCxnSpPr>
          <p:cNvPr id="13" name="Straight Arrow Connector 12"/>
          <p:cNvCxnSpPr>
            <a:stCxn id="10" idx="3"/>
          </p:cNvCxnSpPr>
          <p:nvPr/>
        </p:nvCxnSpPr>
        <p:spPr>
          <a:xfrm>
            <a:off x="4857115" y="1935480"/>
            <a:ext cx="1920240" cy="60134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11" idx="3"/>
          </p:cNvCxnSpPr>
          <p:nvPr/>
        </p:nvCxnSpPr>
        <p:spPr>
          <a:xfrm flipV="1">
            <a:off x="4860925" y="2605405"/>
            <a:ext cx="1916430" cy="996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4860925" y="2705100"/>
            <a:ext cx="1916430" cy="70104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 Box 16"/>
          <p:cNvSpPr txBox="1"/>
          <p:nvPr/>
        </p:nvSpPr>
        <p:spPr>
          <a:xfrm>
            <a:off x="6694805" y="2271395"/>
            <a:ext cx="2303145" cy="781050"/>
          </a:xfrm>
          <a:prstGeom prst="rect">
            <a:avLst/>
          </a:prstGeom>
        </p:spPr>
        <p:style>
          <a:lnRef idx="0">
            <a:srgbClr val="FFFFFF"/>
          </a:lnRef>
          <a:fillRef idx="1">
            <a:schemeClr val="accent1"/>
          </a:fillRef>
          <a:effectRef idx="0">
            <a:srgbClr val="FFFFFF"/>
          </a:effectRef>
          <a:fontRef idx="minor">
            <a:schemeClr val="lt1"/>
          </a:fontRef>
        </p:style>
        <p:txBody>
          <a:bodyPr wrap="square" rtlCol="0">
            <a:noAutofit/>
          </a:bodyPr>
          <a:p>
            <a:r>
              <a:rPr lang="en-US"/>
              <a:t>          Usage of AI</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692" y="1534814"/>
            <a:ext cx="8876105" cy="3796030"/>
          </a:xfrm>
          <a:prstGeom prst="rect">
            <a:avLst/>
          </a:prstGeom>
          <a:noFill/>
        </p:spPr>
        <p:txBody>
          <a:bodyPr wrap="square" rtlCol="0">
            <a:spAutoFit/>
          </a:bodyPr>
          <a:lstStyle/>
          <a:p>
            <a:pPr algn="just"/>
            <a:r>
              <a:rPr lang="en-US" dirty="0"/>
              <a:t>Following assumptions were generated in the form of Hypothesis to authenticate and validate the importance of respective independent variable towards the dependent variable</a:t>
            </a:r>
            <a:endParaRPr lang="en-US" dirty="0"/>
          </a:p>
          <a:p>
            <a:pPr algn="just"/>
            <a:endParaRPr lang="en-US" dirty="0"/>
          </a:p>
          <a:p>
            <a:pPr lvl="1" algn="just"/>
            <a:r>
              <a:rPr lang="en-US" sz="2000" dirty="0">
                <a:solidFill>
                  <a:srgbClr val="3366FF"/>
                </a:solidFill>
              </a:rPr>
              <a:t>H</a:t>
            </a:r>
            <a:r>
              <a:rPr lang="en-US" sz="2000" baseline="-25000" dirty="0">
                <a:solidFill>
                  <a:srgbClr val="3366FF"/>
                </a:solidFill>
              </a:rPr>
              <a:t>1</a:t>
            </a:r>
            <a:r>
              <a:rPr lang="en-US" sz="2400" baseline="-25000" dirty="0">
                <a:solidFill>
                  <a:srgbClr val="3366FF"/>
                </a:solidFill>
                <a:latin typeface="Arial" panose="020B0604020202020204" pitchFamily="34" charset="0"/>
                <a:cs typeface="Arial" panose="020B0604020202020204" pitchFamily="34" charset="0"/>
              </a:rPr>
              <a:t>   </a:t>
            </a:r>
            <a:r>
              <a:rPr lang="en-US" sz="2400" baseline="-25000" dirty="0">
                <a:solidFill>
                  <a:schemeClr val="tx1"/>
                </a:solidFill>
                <a:latin typeface="Arial" panose="020B0604020202020204" pitchFamily="34" charset="0"/>
                <a:cs typeface="Arial" panose="020B0604020202020204" pitchFamily="34" charset="0"/>
              </a:rPr>
              <a:t>Students with higher levels of </a:t>
            </a:r>
            <a:r>
              <a:rPr lang="en-US" altLang="en-US" sz="2400" baseline="-25000" dirty="0">
                <a:solidFill>
                  <a:schemeClr val="tx1"/>
                </a:solidFill>
                <a:latin typeface="Arial" panose="020B0604020202020204" pitchFamily="34" charset="0"/>
                <a:cs typeface="Arial" panose="020B0604020202020204" pitchFamily="34" charset="0"/>
              </a:rPr>
              <a:t>digital skills have higher levels of generative AI usage for education.</a:t>
            </a:r>
            <a:r>
              <a:rPr lang="en-US" sz="2400" baseline="-25000" dirty="0">
                <a:solidFill>
                  <a:schemeClr val="tx1"/>
                </a:solidFill>
                <a:latin typeface="Arial" panose="020B0604020202020204" pitchFamily="34" charset="0"/>
                <a:cs typeface="Arial" panose="020B0604020202020204" pitchFamily="34" charset="0"/>
              </a:rPr>
              <a:t> </a:t>
            </a:r>
            <a:endParaRPr lang="en-US" sz="2000" baseline="-25000" dirty="0">
              <a:solidFill>
                <a:srgbClr val="3366FF"/>
              </a:solidFill>
            </a:endParaRPr>
          </a:p>
          <a:p>
            <a:pPr lvl="1" algn="just"/>
            <a:endParaRPr lang="en-US" sz="2000" dirty="0">
              <a:solidFill>
                <a:srgbClr val="3366FF"/>
              </a:solidFill>
            </a:endParaRPr>
          </a:p>
          <a:p>
            <a:pPr lvl="1" algn="just"/>
            <a:r>
              <a:rPr lang="en-US" sz="2000" dirty="0">
                <a:solidFill>
                  <a:srgbClr val="3366FF"/>
                </a:solidFill>
              </a:rPr>
              <a:t>H</a:t>
            </a:r>
            <a:r>
              <a:rPr lang="en-US" sz="2000" baseline="-25000" dirty="0">
                <a:solidFill>
                  <a:srgbClr val="3366FF"/>
                </a:solidFill>
              </a:rPr>
              <a:t>2     </a:t>
            </a:r>
            <a:r>
              <a:rPr lang="en-US" sz="2400" baseline="-25000" dirty="0">
                <a:latin typeface="Arial" panose="020B0604020202020204" pitchFamily="34" charset="0"/>
                <a:cs typeface="Arial" panose="020B0604020202020204" pitchFamily="34" charset="0"/>
                <a:sym typeface="+mn-ea"/>
              </a:rPr>
              <a:t>Students with higher level of education</a:t>
            </a:r>
            <a:r>
              <a:rPr lang="en-US" altLang="en-US" sz="2400" baseline="-25000" dirty="0">
                <a:latin typeface="Arial" panose="020B0604020202020204" pitchFamily="34" charset="0"/>
                <a:cs typeface="Arial" panose="020B0604020202020204" pitchFamily="34" charset="0"/>
                <a:sym typeface="+mn-ea"/>
              </a:rPr>
              <a:t> have higher levels of generative AI usage for  education.</a:t>
            </a:r>
            <a:r>
              <a:rPr lang="en-US" sz="2400" baseline="-25000" dirty="0">
                <a:latin typeface="Arial" panose="020B0604020202020204" pitchFamily="34" charset="0"/>
                <a:cs typeface="Arial" panose="020B0604020202020204" pitchFamily="34" charset="0"/>
                <a:sym typeface="+mn-ea"/>
              </a:rPr>
              <a:t> </a:t>
            </a:r>
            <a:endParaRPr lang="en-US" sz="2400" baseline="-25000" dirty="0">
              <a:solidFill>
                <a:srgbClr val="3366FF"/>
              </a:solidFill>
              <a:latin typeface="Arial" panose="020B0604020202020204" pitchFamily="34" charset="0"/>
              <a:cs typeface="Arial" panose="020B0604020202020204" pitchFamily="34" charset="0"/>
            </a:endParaRPr>
          </a:p>
          <a:p>
            <a:pPr lvl="1" algn="just"/>
            <a:endParaRPr lang="en-US" sz="2000" dirty="0">
              <a:solidFill>
                <a:srgbClr val="3366FF"/>
              </a:solidFill>
            </a:endParaRPr>
          </a:p>
          <a:p>
            <a:pPr lvl="1" algn="just"/>
            <a:r>
              <a:rPr lang="en-US" sz="2000" dirty="0">
                <a:solidFill>
                  <a:srgbClr val="3366FF"/>
                </a:solidFill>
              </a:rPr>
              <a:t>H</a:t>
            </a:r>
            <a:r>
              <a:rPr lang="en-US" sz="2000" baseline="-25000" dirty="0">
                <a:solidFill>
                  <a:srgbClr val="3366FF"/>
                </a:solidFill>
              </a:rPr>
              <a:t>3       </a:t>
            </a:r>
            <a:r>
              <a:rPr lang="en-US" sz="2400" baseline="-25000" dirty="0">
                <a:latin typeface="Arial" panose="020B0604020202020204" pitchFamily="34" charset="0"/>
                <a:cs typeface="Arial" panose="020B0604020202020204" pitchFamily="34" charset="0"/>
                <a:sym typeface="+mn-ea"/>
              </a:rPr>
              <a:t>Students with stronger level of </a:t>
            </a:r>
            <a:r>
              <a:rPr lang="en-US" altLang="en-US" sz="2400" baseline="-25000" dirty="0">
                <a:latin typeface="Arial" panose="020B0604020202020204" pitchFamily="34" charset="0"/>
                <a:cs typeface="Arial" panose="020B0604020202020204" pitchFamily="34" charset="0"/>
                <a:sym typeface="+mn-ea"/>
              </a:rPr>
              <a:t>digital environment have higher levels of generative AI usage for education</a:t>
            </a:r>
            <a:r>
              <a:rPr lang="en-US" altLang="en-US" sz="2000" baseline="-25000" dirty="0">
                <a:latin typeface="Arial" panose="020B0604020202020204" pitchFamily="34" charset="0"/>
                <a:cs typeface="Arial" panose="020B0604020202020204" pitchFamily="34" charset="0"/>
                <a:sym typeface="+mn-ea"/>
              </a:rPr>
              <a:t>.</a:t>
            </a:r>
            <a:r>
              <a:rPr lang="en-US" sz="2000" baseline="-25000" dirty="0">
                <a:latin typeface="Arial" panose="020B0604020202020204" pitchFamily="34" charset="0"/>
                <a:cs typeface="Arial" panose="020B0604020202020204" pitchFamily="34" charset="0"/>
                <a:sym typeface="+mn-ea"/>
              </a:rPr>
              <a:t> </a:t>
            </a:r>
            <a:endParaRPr lang="en-US" sz="2000" baseline="-25000" dirty="0">
              <a:solidFill>
                <a:srgbClr val="3366FF"/>
              </a:solidFill>
            </a:endParaRPr>
          </a:p>
          <a:p>
            <a:pPr lvl="1" algn="just"/>
            <a:endParaRPr lang="en-US" sz="2000" dirty="0">
              <a:solidFill>
                <a:srgbClr val="3366FF"/>
              </a:solidFill>
            </a:endParaRPr>
          </a:p>
          <a:p>
            <a:pPr lvl="1" algn="just"/>
            <a:endParaRPr lang="en-US" sz="2000" dirty="0"/>
          </a:p>
        </p:txBody>
      </p:sp>
      <p:sp>
        <p:nvSpPr>
          <p:cNvPr id="4" name="Rectangle 3"/>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HYPOTHESES</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RESEARCH METHODOLOGY</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502285" y="3133090"/>
            <a:ext cx="7606665" cy="2306955"/>
          </a:xfrm>
          <a:prstGeom prst="rect">
            <a:avLst/>
          </a:prstGeom>
          <a:noFill/>
        </p:spPr>
        <p:txBody>
          <a:bodyPr wrap="square" rtlCol="0">
            <a:spAutoFit/>
          </a:bodyPr>
          <a:p>
            <a:r>
              <a:rPr lang="en-US" altLang="en-US"/>
              <a:t>The research process follows a systematic quantitative approach to investigate the factors associated with differences in artificial intelligence usage for formal education across European countries. The study begins by identifying the research problem and reviewing existing academic literature concerning artificial intelligence adoption, student learning, digital skills and educational outcomes. The literature review helps identify potential factors that may explain differences in AI usage and provides the theoretical basis for developing the research hypotheses.</a:t>
            </a:r>
            <a:endParaRPr lang="en-US" altLang="en-US"/>
          </a:p>
        </p:txBody>
      </p:sp>
      <p:sp>
        <p:nvSpPr>
          <p:cNvPr id="3" name="Text Box 2"/>
          <p:cNvSpPr txBox="1"/>
          <p:nvPr/>
        </p:nvSpPr>
        <p:spPr>
          <a:xfrm>
            <a:off x="377825" y="1417320"/>
            <a:ext cx="7855585" cy="1198880"/>
          </a:xfrm>
          <a:prstGeom prst="rect">
            <a:avLst/>
          </a:prstGeom>
          <a:noFill/>
        </p:spPr>
        <p:txBody>
          <a:bodyPr wrap="square" rtlCol="0">
            <a:spAutoFit/>
          </a:bodyPr>
          <a:p>
            <a:r>
              <a:rPr lang="en-US" altLang="en-US"/>
              <a:t>Research problem --&gt; Literature review </a:t>
            </a:r>
            <a:r>
              <a:rPr lang="en-US" altLang="en-US">
                <a:sym typeface="+mn-ea"/>
              </a:rPr>
              <a:t>--&gt;</a:t>
            </a:r>
            <a:r>
              <a:rPr lang="en-US" altLang="en-US"/>
              <a:t>Research question </a:t>
            </a:r>
            <a:r>
              <a:rPr lang="en-US" altLang="en-US">
                <a:sym typeface="+mn-ea"/>
              </a:rPr>
              <a:t>--&gt;</a:t>
            </a:r>
            <a:r>
              <a:rPr lang="en-US" altLang="en-US"/>
              <a:t>Variables </a:t>
            </a:r>
            <a:r>
              <a:rPr lang="en-US" altLang="en-US">
                <a:sym typeface="+mn-ea"/>
              </a:rPr>
              <a:t>--&gt;</a:t>
            </a:r>
            <a:r>
              <a:rPr lang="en-US" altLang="en-US"/>
              <a:t>Hypotheses </a:t>
            </a:r>
            <a:r>
              <a:rPr lang="en-US" altLang="en-US">
                <a:sym typeface="+mn-ea"/>
              </a:rPr>
              <a:t>--&gt;</a:t>
            </a:r>
            <a:r>
              <a:rPr lang="en-US" altLang="en-US"/>
              <a:t>Secondary data collection </a:t>
            </a:r>
            <a:r>
              <a:rPr lang="en-US" altLang="en-US">
                <a:sym typeface="+mn-ea"/>
              </a:rPr>
              <a:t>--&gt;</a:t>
            </a:r>
            <a:r>
              <a:rPr lang="en-US" altLang="en-US"/>
              <a:t>Data preparation </a:t>
            </a:r>
            <a:r>
              <a:rPr lang="en-US" altLang="en-US">
                <a:sym typeface="+mn-ea"/>
              </a:rPr>
              <a:t>--&gt;</a:t>
            </a:r>
            <a:r>
              <a:rPr lang="en-US" altLang="en-US"/>
              <a:t>Descriptive analysis </a:t>
            </a:r>
            <a:r>
              <a:rPr lang="en-US" altLang="en-US">
                <a:sym typeface="+mn-ea"/>
              </a:rPr>
              <a:t>--&gt;</a:t>
            </a:r>
            <a:r>
              <a:rPr lang="en-US" altLang="en-US"/>
              <a:t>Correlation </a:t>
            </a:r>
            <a:r>
              <a:rPr lang="en-US" altLang="en-US">
                <a:sym typeface="+mn-ea"/>
              </a:rPr>
              <a:t>--&gt;</a:t>
            </a:r>
            <a:r>
              <a:rPr lang="en-US" altLang="en-US"/>
              <a:t>Multiple regression </a:t>
            </a:r>
            <a:r>
              <a:rPr lang="en-US" altLang="en-US">
                <a:sym typeface="+mn-ea"/>
              </a:rPr>
              <a:t>--&gt;</a:t>
            </a:r>
            <a:r>
              <a:rPr lang="en-US" altLang="en-US"/>
              <a:t>Hypothesis testing </a:t>
            </a:r>
            <a:r>
              <a:rPr lang="en-US" altLang="en-US">
                <a:sym typeface="+mn-ea"/>
              </a:rPr>
              <a:t>--&gt;</a:t>
            </a:r>
            <a:r>
              <a:rPr lang="en-US" altLang="en-US"/>
              <a:t>Discussion </a:t>
            </a:r>
            <a:r>
              <a:rPr lang="en-US" altLang="en-US">
                <a:sym typeface="+mn-ea"/>
              </a:rPr>
              <a:t>--&gt;</a:t>
            </a:r>
            <a:r>
              <a:rPr lang="en-US" altLang="en-US"/>
              <a:t>Conclusion</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DATA ANALYSIS</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2"/>
          <a:stretch>
            <a:fillRect/>
          </a:stretch>
        </p:blipFill>
        <p:spPr>
          <a:xfrm>
            <a:off x="184150" y="1135380"/>
            <a:ext cx="8549640" cy="1684020"/>
          </a:xfrm>
          <a:prstGeom prst="rect">
            <a:avLst/>
          </a:prstGeom>
        </p:spPr>
      </p:pic>
      <p:pic>
        <p:nvPicPr>
          <p:cNvPr id="8" name="Picture 7"/>
          <p:cNvPicPr>
            <a:picLocks noChangeAspect="1"/>
          </p:cNvPicPr>
          <p:nvPr/>
        </p:nvPicPr>
        <p:blipFill>
          <a:blip r:embed="rId3"/>
          <a:stretch>
            <a:fillRect/>
          </a:stretch>
        </p:blipFill>
        <p:spPr>
          <a:xfrm>
            <a:off x="2218690" y="3429000"/>
            <a:ext cx="4353560" cy="3034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646" y="1094308"/>
            <a:ext cx="8876105" cy="646331"/>
          </a:xfrm>
          <a:prstGeom prst="rect">
            <a:avLst/>
          </a:prstGeom>
          <a:noFill/>
        </p:spPr>
        <p:txBody>
          <a:bodyPr wrap="square" rtlCol="0">
            <a:spAutoFit/>
          </a:bodyPr>
          <a:lstStyle/>
          <a:p>
            <a:r>
              <a:rPr lang="en-US" dirty="0"/>
              <a:t>Based on analysis from collected data, following are the significance of variables that are Hypothesized for this research. </a:t>
            </a:r>
            <a:endParaRPr lang="en-US" dirty="0"/>
          </a:p>
        </p:txBody>
      </p:sp>
      <p:graphicFrame>
        <p:nvGraphicFramePr>
          <p:cNvPr id="4" name="Table 3"/>
          <p:cNvGraphicFramePr>
            <a:graphicFrameLocks noGrp="1"/>
          </p:cNvGraphicFramePr>
          <p:nvPr/>
        </p:nvGraphicFramePr>
        <p:xfrm>
          <a:off x="415925" y="2032000"/>
          <a:ext cx="8582660" cy="3942080"/>
        </p:xfrm>
        <a:graphic>
          <a:graphicData uri="http://schemas.openxmlformats.org/drawingml/2006/table">
            <a:tbl>
              <a:tblPr firstRow="1" bandRow="1">
                <a:tableStyleId>{5940675A-B579-460E-94D1-54222C63F5DA}</a:tableStyleId>
              </a:tblPr>
              <a:tblGrid>
                <a:gridCol w="701675"/>
                <a:gridCol w="6392545"/>
                <a:gridCol w="1488440"/>
              </a:tblGrid>
              <a:tr h="426720">
                <a:tc>
                  <a:txBody>
                    <a:bodyPr/>
                    <a:lstStyle/>
                    <a:p>
                      <a:pPr algn="ctr"/>
                      <a:r>
                        <a:rPr lang="en-US" b="1" dirty="0"/>
                        <a:t>Item</a:t>
                      </a:r>
                      <a:endParaRPr lang="en-US" b="1" dirty="0"/>
                    </a:p>
                  </a:txBody>
                  <a:tcPr/>
                </a:tc>
                <a:tc>
                  <a:txBody>
                    <a:bodyPr/>
                    <a:lstStyle/>
                    <a:p>
                      <a:pPr algn="ctr"/>
                      <a:r>
                        <a:rPr lang="en-US" b="1" dirty="0"/>
                        <a:t>Description o</a:t>
                      </a:r>
                      <a:r>
                        <a:rPr lang="en-US" b="1" baseline="0" dirty="0"/>
                        <a:t>f Hypothesis</a:t>
                      </a:r>
                      <a:endParaRPr lang="en-US" b="1" dirty="0"/>
                    </a:p>
                  </a:txBody>
                  <a:tcPr/>
                </a:tc>
                <a:tc>
                  <a:txBody>
                    <a:bodyPr/>
                    <a:lstStyle/>
                    <a:p>
                      <a:pPr algn="ctr"/>
                      <a:r>
                        <a:rPr lang="en-US" b="1" dirty="0"/>
                        <a:t>Result</a:t>
                      </a:r>
                      <a:endParaRPr lang="en-US" b="1" dirty="0"/>
                    </a:p>
                  </a:txBody>
                  <a:tcPr/>
                </a:tc>
              </a:tr>
              <a:tr h="721360">
                <a:tc>
                  <a:txBody>
                    <a:bodyPr/>
                    <a:lstStyle/>
                    <a:p>
                      <a:pPr algn="ctr"/>
                      <a:r>
                        <a:rPr lang="en-US" dirty="0">
                          <a:solidFill>
                            <a:srgbClr val="3366FF"/>
                          </a:solidFill>
                        </a:rPr>
                        <a:t>H</a:t>
                      </a:r>
                      <a:r>
                        <a:rPr lang="en-US" baseline="-25000" dirty="0">
                          <a:solidFill>
                            <a:srgbClr val="3366FF"/>
                          </a:solidFill>
                        </a:rPr>
                        <a:t>1</a:t>
                      </a:r>
                      <a:endParaRPr lang="en-US" baseline="-25000" dirty="0">
                        <a:solidFill>
                          <a:srgbClr val="3366FF"/>
                        </a:solidFill>
                      </a:endParaRPr>
                    </a:p>
                  </a:txBody>
                  <a:tcPr/>
                </a:tc>
                <a:tc>
                  <a:txBody>
                    <a:bodyPr/>
                    <a:lstStyle/>
                    <a:p>
                      <a:pPr marL="0" lvl="1"/>
                      <a:r>
                        <a:rPr lang="en-US" sz="1800" baseline="-25000" dirty="0">
                          <a:latin typeface="Arial" panose="020B0604020202020204" pitchFamily="34" charset="0"/>
                          <a:cs typeface="Arial" panose="020B0604020202020204" pitchFamily="34" charset="0"/>
                          <a:sym typeface="+mn-ea"/>
                        </a:rPr>
                        <a:t>Students with higher levels of </a:t>
                      </a:r>
                      <a:r>
                        <a:rPr lang="en-US" altLang="en-US" sz="1800" baseline="-25000" dirty="0">
                          <a:latin typeface="Arial" panose="020B0604020202020204" pitchFamily="34" charset="0"/>
                          <a:cs typeface="Arial" panose="020B0604020202020204" pitchFamily="34" charset="0"/>
                          <a:sym typeface="+mn-ea"/>
                        </a:rPr>
                        <a:t>digital skills have higher levels of generative AI usage for education.</a:t>
                      </a:r>
                      <a:r>
                        <a:rPr lang="en-US" sz="1800" baseline="-25000" dirty="0">
                          <a:latin typeface="Arial" panose="020B0604020202020204" pitchFamily="34" charset="0"/>
                          <a:cs typeface="Arial" panose="020B0604020202020204" pitchFamily="34" charset="0"/>
                          <a:sym typeface="+mn-ea"/>
                        </a:rPr>
                        <a:t> </a:t>
                      </a:r>
                      <a:endParaRPr lang="en-US" sz="1800" baseline="-25000" dirty="0">
                        <a:solidFill>
                          <a:srgbClr val="3366FF"/>
                        </a:solidFill>
                      </a:endParaRPr>
                    </a:p>
                    <a:p>
                      <a:endParaRPr lang="en-US" dirty="0">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a:solidFill>
                            <a:srgbClr val="3366FF"/>
                          </a:solidFill>
                          <a:sym typeface="+mn-ea"/>
                        </a:rPr>
                        <a:t>Negitive</a:t>
                      </a:r>
                      <a:endParaRPr lang="en-US" dirty="0">
                        <a:solidFill>
                          <a:srgbClr val="3366FF"/>
                        </a:solidFill>
                      </a:endParaRPr>
                    </a:p>
                  </a:txBody>
                  <a:tcPr/>
                </a:tc>
              </a:tr>
              <a:tr h="447040">
                <a:tc>
                  <a:txBody>
                    <a:bodyPr/>
                    <a:lstStyle/>
                    <a:p>
                      <a:pPr algn="ctr"/>
                      <a:r>
                        <a:rPr lang="en-US" dirty="0">
                          <a:solidFill>
                            <a:srgbClr val="3366FF"/>
                          </a:solidFill>
                        </a:rPr>
                        <a:t>H</a:t>
                      </a:r>
                      <a:r>
                        <a:rPr lang="en-US" baseline="-25000" dirty="0">
                          <a:solidFill>
                            <a:srgbClr val="3366FF"/>
                          </a:solidFill>
                        </a:rPr>
                        <a:t>2</a:t>
                      </a:r>
                      <a:endParaRPr lang="en-US" baseline="-25000" dirty="0">
                        <a:solidFill>
                          <a:srgbClr val="3366FF"/>
                        </a:solidFill>
                      </a:endParaRPr>
                    </a:p>
                  </a:txBody>
                  <a:tcPr/>
                </a:tc>
                <a:tc>
                  <a:txBody>
                    <a:bodyPr/>
                    <a:lstStyle/>
                    <a:p>
                      <a:r>
                        <a:rPr lang="en-US" sz="1800" baseline="-25000" dirty="0">
                          <a:latin typeface="Arial" panose="020B0604020202020204" pitchFamily="34" charset="0"/>
                          <a:cs typeface="Arial" panose="020B0604020202020204" pitchFamily="34" charset="0"/>
                          <a:sym typeface="+mn-ea"/>
                        </a:rPr>
                        <a:t>Students with higher level of education</a:t>
                      </a:r>
                      <a:r>
                        <a:rPr lang="en-US" altLang="en-US" sz="1800" baseline="-25000" dirty="0">
                          <a:latin typeface="Arial" panose="020B0604020202020204" pitchFamily="34" charset="0"/>
                          <a:cs typeface="Arial" panose="020B0604020202020204" pitchFamily="34" charset="0"/>
                          <a:sym typeface="+mn-ea"/>
                        </a:rPr>
                        <a:t> have higher levels of generative AI usage for  education.</a:t>
                      </a:r>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solidFill>
                            <a:srgbClr val="3366FF"/>
                          </a:solidFill>
                        </a:rPr>
                        <a:t>Supportive</a:t>
                      </a:r>
                      <a:endParaRPr lang="en-US" dirty="0">
                        <a:solidFill>
                          <a:srgbClr val="3366FF"/>
                        </a:solidFill>
                      </a:endParaRPr>
                    </a:p>
                  </a:txBody>
                  <a:tcPr/>
                </a:tc>
              </a:tr>
              <a:tr h="640080">
                <a:tc>
                  <a:txBody>
                    <a:bodyPr/>
                    <a:lstStyle/>
                    <a:p>
                      <a:pPr algn="ctr"/>
                      <a:r>
                        <a:rPr lang="en-US" dirty="0">
                          <a:solidFill>
                            <a:srgbClr val="3366FF"/>
                          </a:solidFill>
                        </a:rPr>
                        <a:t>H</a:t>
                      </a:r>
                      <a:r>
                        <a:rPr lang="en-US" baseline="-25000" dirty="0">
                          <a:solidFill>
                            <a:srgbClr val="3366FF"/>
                          </a:solidFill>
                        </a:rPr>
                        <a:t>3</a:t>
                      </a:r>
                      <a:endParaRPr lang="en-US" baseline="-25000" dirty="0">
                        <a:solidFill>
                          <a:srgbClr val="3366FF"/>
                        </a:solidFill>
                      </a:endParaRPr>
                    </a:p>
                  </a:txBody>
                  <a:tcPr/>
                </a:tc>
                <a:tc>
                  <a:txBody>
                    <a:bodyPr/>
                    <a:lstStyle/>
                    <a:p>
                      <a:r>
                        <a:rPr lang="en-US" sz="1800" baseline="-25000" dirty="0">
                          <a:latin typeface="Arial" panose="020B0604020202020204" pitchFamily="34" charset="0"/>
                          <a:cs typeface="Arial" panose="020B0604020202020204" pitchFamily="34" charset="0"/>
                          <a:sym typeface="+mn-ea"/>
                        </a:rPr>
                        <a:t>Students with stronger level of </a:t>
                      </a:r>
                      <a:r>
                        <a:rPr lang="en-US" altLang="en-US" sz="1800" baseline="-25000" dirty="0">
                          <a:latin typeface="Arial" panose="020B0604020202020204" pitchFamily="34" charset="0"/>
                          <a:cs typeface="Arial" panose="020B0604020202020204" pitchFamily="34" charset="0"/>
                          <a:sym typeface="+mn-ea"/>
                        </a:rPr>
                        <a:t>digital environment have higher levels of generative AI usage for education.</a:t>
                      </a:r>
                      <a:r>
                        <a:rPr lang="en-US" sz="1800" baseline="-25000" dirty="0">
                          <a:latin typeface="Arial" panose="020B0604020202020204" pitchFamily="34" charset="0"/>
                          <a:cs typeface="Arial" panose="020B0604020202020204" pitchFamily="34" charset="0"/>
                          <a:sym typeface="+mn-ea"/>
                        </a:rPr>
                        <a:t> </a:t>
                      </a:r>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a:solidFill>
                            <a:srgbClr val="3366FF"/>
                          </a:solidFill>
                        </a:rPr>
                        <a:t>Supportive</a:t>
                      </a:r>
                      <a:endParaRPr lang="en-US" sz="1800" dirty="0">
                        <a:solidFill>
                          <a:srgbClr val="3366FF"/>
                        </a:solidFill>
                      </a:endParaRPr>
                    </a:p>
                    <a:p>
                      <a:pPr marL="0" marR="0" indent="0" algn="l" defTabSz="457200" rtl="0" eaLnBrk="1" fontAlgn="auto" latinLnBrk="0" hangingPunct="1">
                        <a:lnSpc>
                          <a:spcPct val="100000"/>
                        </a:lnSpc>
                        <a:spcBef>
                          <a:spcPts val="0"/>
                        </a:spcBef>
                        <a:spcAft>
                          <a:spcPts val="0"/>
                        </a:spcAft>
                        <a:buClrTx/>
                        <a:buSzTx/>
                        <a:buFontTx/>
                        <a:buNone/>
                        <a:defRPr/>
                      </a:pPr>
                      <a:endParaRPr lang="en-US" dirty="0">
                        <a:solidFill>
                          <a:srgbClr val="3366FF"/>
                        </a:solidFill>
                      </a:endParaRPr>
                    </a:p>
                  </a:txBody>
                  <a:tcPr/>
                </a:tc>
              </a:tr>
              <a:tr h="426720">
                <a:tc>
                  <a:txBody>
                    <a:bodyPr/>
                    <a:lstStyle/>
                    <a:p>
                      <a:pPr algn="ctr"/>
                      <a:endParaRPr lang="en-US" baseline="-25000" dirty="0">
                        <a:solidFill>
                          <a:srgbClr val="3366FF"/>
                        </a:solidFill>
                      </a:endParaRPr>
                    </a:p>
                  </a:txBody>
                  <a:tcPr/>
                </a:tc>
                <a:tc>
                  <a:txBody>
                    <a:bodyPr/>
                    <a:lstStyle/>
                    <a:p>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endParaRPr lang="en-US" dirty="0">
                        <a:solidFill>
                          <a:srgbClr val="3366FF"/>
                        </a:solidFill>
                      </a:endParaRPr>
                    </a:p>
                  </a:txBody>
                  <a:tcPr/>
                </a:tc>
              </a:tr>
              <a:tr h="426720">
                <a:tc>
                  <a:txBody>
                    <a:bodyPr/>
                    <a:lstStyle/>
                    <a:p>
                      <a:pPr algn="ctr"/>
                      <a:endParaRPr lang="en-US" baseline="-25000" dirty="0">
                        <a:solidFill>
                          <a:srgbClr val="3366FF"/>
                        </a:solidFill>
                      </a:endParaRPr>
                    </a:p>
                  </a:txBody>
                  <a:tcPr/>
                </a:tc>
                <a:tc>
                  <a:txBody>
                    <a:bodyPr/>
                    <a:lstStyle/>
                    <a:p>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endParaRPr lang="en-US" dirty="0">
                        <a:solidFill>
                          <a:srgbClr val="3366FF"/>
                        </a:solidFill>
                      </a:endParaRPr>
                    </a:p>
                  </a:txBody>
                  <a:tcPr/>
                </a:tc>
              </a:tr>
              <a:tr h="426720">
                <a:tc>
                  <a:txBody>
                    <a:bodyPr/>
                    <a:lstStyle/>
                    <a:p>
                      <a:pPr algn="ctr"/>
                      <a:endParaRPr lang="en-US" baseline="-25000" dirty="0">
                        <a:solidFill>
                          <a:srgbClr val="3366FF"/>
                        </a:solidFill>
                      </a:endParaRPr>
                    </a:p>
                  </a:txBody>
                  <a:tcPr/>
                </a:tc>
                <a:tc>
                  <a:txBody>
                    <a:bodyPr/>
                    <a:lstStyle/>
                    <a:p>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endParaRPr lang="en-US" dirty="0">
                        <a:solidFill>
                          <a:srgbClr val="3366FF"/>
                        </a:solidFill>
                      </a:endParaRPr>
                    </a:p>
                  </a:txBody>
                  <a:tcPr/>
                </a:tc>
              </a:tr>
              <a:tr h="426720">
                <a:tc>
                  <a:txBody>
                    <a:bodyPr/>
                    <a:lstStyle/>
                    <a:p>
                      <a:pPr algn="ctr"/>
                      <a:endParaRPr lang="en-US" baseline="-25000" dirty="0">
                        <a:solidFill>
                          <a:srgbClr val="3366FF"/>
                        </a:solidFill>
                      </a:endParaRPr>
                    </a:p>
                  </a:txBody>
                  <a:tcPr/>
                </a:tc>
                <a:tc>
                  <a:txBody>
                    <a:bodyPr/>
                    <a:lstStyle/>
                    <a:p>
                      <a:endParaRPr lang="en-US">
                        <a:solidFill>
                          <a:srgbClr val="3366FF"/>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endParaRPr lang="en-US" dirty="0">
                        <a:solidFill>
                          <a:srgbClr val="3366FF"/>
                        </a:solidFill>
                      </a:endParaRPr>
                    </a:p>
                  </a:txBody>
                  <a:tcPr/>
                </a:tc>
              </a:tr>
            </a:tbl>
          </a:graphicData>
        </a:graphic>
      </p:graphicFrame>
      <p:sp>
        <p:nvSpPr>
          <p:cNvPr id="6" name="Rectangle 5"/>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HYPOTHESIS RESULTS</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FINDINGS AND RECOMMENDATION</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p:cNvSpPr txBox="1"/>
          <p:nvPr/>
        </p:nvSpPr>
        <p:spPr>
          <a:xfrm>
            <a:off x="641985" y="953770"/>
            <a:ext cx="7427595" cy="3476625"/>
          </a:xfrm>
          <a:prstGeom prst="rect">
            <a:avLst/>
          </a:prstGeom>
        </p:spPr>
        <p:txBody>
          <a:bodyPr wrap="square">
            <a:spAutoFit/>
          </a:bodyPr>
          <a:p>
            <a:pPr>
              <a:spcBef>
                <a:spcPct val="0"/>
              </a:spcBef>
            </a:pPr>
            <a:r>
              <a:rPr sz="2000" b="1">
                <a:latin typeface="Arial" panose="020B0604020202020204" pitchFamily="34" charset="0"/>
                <a:ea typeface="Google Sans Text"/>
                <a:cs typeface="Arial" panose="020B0604020202020204" pitchFamily="34" charset="0"/>
              </a:rPr>
              <a:t>The path coefficient between </a:t>
            </a:r>
            <a:r>
              <a:rPr sz="2000" b="1">
                <a:latin typeface="Arial" panose="020B0604020202020204" pitchFamily="34" charset="0"/>
                <a:ea typeface="Google Sans Text"/>
                <a:cs typeface="Arial" panose="020B0604020202020204" pitchFamily="34" charset="0"/>
              </a:rPr>
              <a:t>ED and </a:t>
            </a:r>
            <a:r>
              <a:rPr sz="2000" b="1">
                <a:latin typeface="Arial" panose="020B0604020202020204" pitchFamily="34" charset="0"/>
                <a:ea typeface="Google Sans Text"/>
                <a:cs typeface="Arial" panose="020B0604020202020204" pitchFamily="34" charset="0"/>
              </a:rPr>
              <a:t>UOAI is $-0.043$. Because this value is negative and very close to zero, ED has a negligible to weak inverse effect on UOAI. An increase in ED corresponds to a slight decrease in UOAI.</a:t>
            </a:r>
            <a:r>
              <a:rPr lang="en-US" sz="2000" b="1">
                <a:latin typeface="Arial" panose="020B0604020202020204" pitchFamily="34" charset="0"/>
                <a:ea typeface="Google Sans Text"/>
                <a:cs typeface="Arial" panose="020B0604020202020204" pitchFamily="34" charset="0"/>
              </a:rPr>
              <a:t>So students with less education cant use ai properly</a:t>
            </a:r>
            <a:endParaRPr sz="2000" b="1">
              <a:latin typeface="Arial" panose="020B0604020202020204" pitchFamily="34" charset="0"/>
              <a:ea typeface="Google Sans Text"/>
              <a:cs typeface="Arial" panose="020B0604020202020204" pitchFamily="34" charset="0"/>
            </a:endParaRPr>
          </a:p>
          <a:p>
            <a:pPr indent="0">
              <a:spcBef>
                <a:spcPct val="0"/>
              </a:spcBef>
              <a:buFont typeface="Arial" panose="020B0604020202020204"/>
              <a:buNone/>
            </a:pPr>
            <a:r>
              <a:rPr sz="2000" b="1">
                <a:latin typeface="Arial" panose="020B0604020202020204" pitchFamily="34" charset="0"/>
                <a:ea typeface="Google Sans Text"/>
                <a:cs typeface="Arial" panose="020B0604020202020204" pitchFamily="34" charset="0"/>
              </a:rPr>
              <a:t>The path coefficient between </a:t>
            </a:r>
            <a:r>
              <a:rPr sz="2000" b="1">
                <a:latin typeface="Arial" panose="020B0604020202020204" pitchFamily="34" charset="0"/>
                <a:ea typeface="Google Sans Text"/>
                <a:cs typeface="Arial" panose="020B0604020202020204" pitchFamily="34" charset="0"/>
              </a:rPr>
              <a:t>DS and </a:t>
            </a:r>
            <a:r>
              <a:rPr sz="2000" b="1">
                <a:latin typeface="Arial" panose="020B0604020202020204" pitchFamily="34" charset="0"/>
                <a:ea typeface="Google Sans Text"/>
                <a:cs typeface="Arial" panose="020B0604020202020204" pitchFamily="34" charset="0"/>
              </a:rPr>
              <a:t>UOAI is negative ($-0.438$). This indicates a strong inverse relationship: as DS increases, UOAI decreases significantly.</a:t>
            </a:r>
            <a:endParaRPr sz="2000" b="1">
              <a:latin typeface="Arial" panose="020B0604020202020204" pitchFamily="34" charset="0"/>
              <a:ea typeface="Google Sans Text"/>
              <a:cs typeface="Arial" panose="020B0604020202020204" pitchFamily="34" charset="0"/>
            </a:endParaRPr>
          </a:p>
          <a:p>
            <a:pPr indent="0">
              <a:spcBef>
                <a:spcPct val="0"/>
              </a:spcBef>
              <a:buFont typeface="Arial" panose="020B0604020202020204"/>
              <a:buNone/>
            </a:pPr>
            <a:r>
              <a:rPr sz="2000" b="1">
                <a:latin typeface="Arial" panose="020B0604020202020204" pitchFamily="34" charset="0"/>
                <a:ea typeface="Google Sans Text"/>
                <a:cs typeface="Arial" panose="020B0604020202020204" pitchFamily="34" charset="0"/>
              </a:rPr>
              <a:t>The path coefficient between </a:t>
            </a:r>
            <a:r>
              <a:rPr sz="2000" b="1">
                <a:latin typeface="Arial" panose="020B0604020202020204" pitchFamily="34" charset="0"/>
                <a:ea typeface="Google Sans Text"/>
                <a:cs typeface="Arial" panose="020B0604020202020204" pitchFamily="34" charset="0"/>
              </a:rPr>
              <a:t>IN and </a:t>
            </a:r>
            <a:r>
              <a:rPr sz="2000" b="1">
                <a:latin typeface="Arial" panose="020B0604020202020204" pitchFamily="34" charset="0"/>
                <a:ea typeface="Google Sans Text"/>
                <a:cs typeface="Arial" panose="020B0604020202020204" pitchFamily="34" charset="0"/>
              </a:rPr>
              <a:t>UOAI is positive ($+0.340$). This indicates a direct relationship: as IN increases, UOAI increases steadily.</a:t>
            </a:r>
            <a:endParaRPr sz="2000" b="1">
              <a:latin typeface="Arial" panose="020B0604020202020204" pitchFamily="34" charset="0"/>
              <a:ea typeface="Google Sans Text"/>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kern="0" dirty="0">
                <a:solidFill>
                  <a:prstClr val="white"/>
                </a:solidFill>
                <a:latin typeface="Calibri" panose="020F0502020204030204"/>
              </a:rPr>
              <a:t>LIMITATIONS AND FUTURE SCOPE</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p:cNvSpPr txBox="1"/>
          <p:nvPr/>
        </p:nvSpPr>
        <p:spPr>
          <a:xfrm>
            <a:off x="520700" y="1259205"/>
            <a:ext cx="8157210" cy="4707890"/>
          </a:xfrm>
          <a:prstGeom prst="rect">
            <a:avLst/>
          </a:prstGeom>
          <a:noFill/>
        </p:spPr>
        <p:txBody>
          <a:bodyPr wrap="square" rtlCol="0">
            <a:spAutoFit/>
          </a:bodyPr>
          <a:p>
            <a:r>
              <a:rPr lang="en-US" altLang="en-US" sz="2000" b="1"/>
              <a:t>Future research could be investigate the intensity and type of AI usage.</a:t>
            </a:r>
            <a:endParaRPr lang="en-US" altLang="en-US" sz="2000" b="1"/>
          </a:p>
          <a:p>
            <a:endParaRPr lang="en-US" altLang="en-US" sz="2000" b="1"/>
          </a:p>
          <a:p>
            <a:r>
              <a:rPr lang="en-US" altLang="en-US" sz="2000" b="1"/>
              <a:t>For example, researchers could distinguish between using AI as a tutor, using AI for brainstorming, using AI for feedback and simply copying AI-generated answers.</a:t>
            </a:r>
            <a:endParaRPr lang="en-US" altLang="en-US" sz="2000" b="1"/>
          </a:p>
          <a:p>
            <a:endParaRPr lang="en-US" altLang="en-US" sz="2000" b="1"/>
          </a:p>
          <a:p>
            <a:r>
              <a:rPr lang="en-US" altLang="en-US" sz="2000" b="1"/>
              <a:t>Another important extension would be to examine knowledge retention.</a:t>
            </a:r>
            <a:endParaRPr lang="en-US" altLang="en-US" sz="2000" b="1"/>
          </a:p>
          <a:p>
            <a:endParaRPr lang="en-US" altLang="en-US" sz="2000" b="1"/>
          </a:p>
          <a:p>
            <a:r>
              <a:rPr lang="en-US" altLang="en-US" sz="2000" b="1"/>
              <a:t>A student may achieve a higher grade with AI assistance, but that does not necessarily mean that the student retains the knowledge.</a:t>
            </a:r>
            <a:endParaRPr lang="en-US" altLang="en-US" sz="2000" b="1"/>
          </a:p>
          <a:p>
            <a:endParaRPr lang="en-US" altLang="en-US" sz="2000" b="1"/>
          </a:p>
          <a:p>
            <a:r>
              <a:rPr lang="en-US" altLang="en-US" sz="2000" b="1"/>
              <a:t>The analysis is based on European countries rather than individual students. Therefore, the results should not be interpreted as proving that an individual student with higher digital skills or education will necessarily use more or less AI. The findings represent patterns at the country level.</a:t>
            </a:r>
            <a:endParaRPr lang="en-US" altLang="en-US" sz="20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7260" y="0"/>
            <a:ext cx="7686740" cy="588723"/>
          </a:xfrm>
          <a:prstGeom prst="rect">
            <a:avLst/>
          </a:prstGeom>
          <a:solidFill>
            <a:srgbClr val="70AD47">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CONCLUSION</a:t>
            </a: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descr="Gisma in the Media | Gisma University of Applied Scienc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57260" cy="588723"/>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p:cNvSpPr txBox="1"/>
          <p:nvPr/>
        </p:nvSpPr>
        <p:spPr>
          <a:xfrm>
            <a:off x="1289050" y="1433195"/>
            <a:ext cx="6816725" cy="3476625"/>
          </a:xfrm>
          <a:prstGeom prst="rect">
            <a:avLst/>
          </a:prstGeom>
          <a:noFill/>
        </p:spPr>
        <p:txBody>
          <a:bodyPr wrap="square" rtlCol="0">
            <a:spAutoFit/>
          </a:bodyPr>
          <a:p>
            <a:r>
              <a:rPr lang="en-US" altLang="en-US" sz="2000" b="1"/>
              <a:t>I examined three factors: digital skills, educational attainment and the digital environment.</a:t>
            </a:r>
            <a:endParaRPr lang="en-US" altLang="en-US" sz="2000" b="1"/>
          </a:p>
          <a:p>
            <a:endParaRPr lang="en-US" altLang="en-US" sz="2000" b="1"/>
          </a:p>
          <a:p>
            <a:r>
              <a:rPr lang="en-US" altLang="en-US" sz="2000" b="1"/>
              <a:t>The results showed different relationships for the three predictors.</a:t>
            </a:r>
            <a:endParaRPr lang="en-US" altLang="en-US" sz="2000" b="1"/>
          </a:p>
          <a:p>
            <a:endParaRPr lang="en-US" altLang="en-US" sz="2000" b="1"/>
          </a:p>
          <a:p>
            <a:r>
              <a:rPr lang="en-US" altLang="en-US" sz="2000" b="1"/>
              <a:t>Digital skills showed a negative association with AI usage, drop outs in education showed a very weak negative association, while the digital environment showed a positive association.</a:t>
            </a:r>
            <a:r>
              <a:rPr lang="en-US" sz="2000" b="1"/>
              <a:t>we concluded that education and internet plays a major effect in the students usage of AI.</a:t>
            </a:r>
            <a:endParaRPr lang="en-US" sz="2000" b="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6536</Words>
  <Application>WPS Presentation</Application>
  <PresentationFormat>On-screen Show (4:3)</PresentationFormat>
  <Paragraphs>193</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Arial</vt:lpstr>
      <vt:lpstr>Calibri</vt:lpstr>
      <vt:lpstr>Google Sans Text</vt:lpstr>
      <vt:lpstr>Segoe Print</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Nirmal Prabhakar Chirukuri</cp:lastModifiedBy>
  <cp:revision>59</cp:revision>
  <dcterms:created xsi:type="dcterms:W3CDTF">2018-06-11T19:20:00Z</dcterms:created>
  <dcterms:modified xsi:type="dcterms:W3CDTF">2026-09-11T19:04:35Z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B09E9538633C4A4E9130B8CBEDDF30A2_12</vt:lpwstr>
  </property>
</Properties>
</file>